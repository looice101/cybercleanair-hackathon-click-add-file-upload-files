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aveat"/>
      <p:regular r:id="rId20"/>
      <p:bold r:id="rId21"/>
    </p:embeddedFon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regular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Caveat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https://docs.google.com/document/d/1M4QL3JX5HNMyP3Gbn2SNkMnt5PhK68w7LtbXwXWPM8M/edit?usp=sharing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88ec52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88ec5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73b8aad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73b8aad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73b8aad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473b8aad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88ec524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488ec524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88ec5248_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488ec5248_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88ec524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488ec524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</a:t>
            </a:r>
            <a:r>
              <a:rPr lang="en"/>
              <a:t> Trust Score (before data attacks/manipulation)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88ec52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488ec52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88ec524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88ec524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488ec524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488ec524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488ec524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488ec524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73b8aad9_1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73b8aad9_1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88ec524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488ec52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88ec524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488ec524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lab.research.google.com/drive/10MQC-pBk7nHEYTKWjlnY-o79g89OjQuC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veat"/>
                <a:ea typeface="Caveat"/>
                <a:cs typeface="Caveat"/>
                <a:sym typeface="Caveat"/>
              </a:rPr>
              <a:t>CyberCleanAir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Victoria Treder, </a:t>
            </a:r>
            <a:r>
              <a:rPr b="1" lang="en"/>
              <a:t>Sri Harshitha Battula, Luice Khamboo, Kelvin Boakye Fosu, Michel Atayi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57025" y="72420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of API Sensor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Justification</a:t>
            </a:r>
            <a:endParaRPr b="1"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air quality in a highly populated region of the United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Areas outside of Atlanta, GA showed unexpected high AQI readings (over 50) despite nature in surrounding environment</a:t>
            </a:r>
            <a:endParaRPr/>
          </a:p>
        </p:txBody>
      </p:sp>
      <p:pic>
        <p:nvPicPr>
          <p:cNvPr id="74" name="Google Shape;74;p14" title="Screenshot 2026-04-04 at 2.02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113" y="2400000"/>
            <a:ext cx="3519023" cy="24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147600" y="3704600"/>
            <a:ext cx="1133700" cy="36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25" y="86800"/>
            <a:ext cx="3312496" cy="23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ensor-19626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391" y="86800"/>
            <a:ext cx="3264284" cy="24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pic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8725" y="2650525"/>
            <a:ext cx="4164800" cy="23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93900" y="41771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Delphia Pondside</a:t>
            </a:r>
            <a:endParaRPr b="1"/>
          </a:p>
        </p:txBody>
      </p:sp>
      <p:pic>
        <p:nvPicPr>
          <p:cNvPr id="88" name="Google Shape;88;p16" title="pic1.png"/>
          <p:cNvPicPr preferRelativeResize="0"/>
          <p:nvPr/>
        </p:nvPicPr>
        <p:blipFill rotWithShape="1">
          <a:blip r:embed="rId3">
            <a:alphaModFix/>
          </a:blip>
          <a:srcRect b="0" l="-640" r="640" t="0"/>
          <a:stretch/>
        </p:blipFill>
        <p:spPr>
          <a:xfrm>
            <a:off x="1989038" y="304800"/>
            <a:ext cx="5165913" cy="38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rust Score - Code Highlights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Multi-Sensor Analysis: Compares a target sensor with two </a:t>
            </a:r>
            <a:r>
              <a:rPr lang="en"/>
              <a:t>neighbors</a:t>
            </a:r>
            <a:r>
              <a:rPr lang="en"/>
              <a:t> to evaluate data reliability.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Missing Data Resilience: Fills missing values using </a:t>
            </a:r>
            <a:r>
              <a:rPr lang="en"/>
              <a:t>the neighbor</a:t>
            </a:r>
            <a:r>
              <a:rPr lang="en"/>
              <a:t> average at each timestamp.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Rolling Window Temporal Checks: Detects unrealistic jumps, oscillations, and sudden changes in readings.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Hackathon Ready: Designed for real-time data evaluation and attack simulation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Visualization</a:t>
            </a:r>
            <a:r>
              <a:rPr lang="en"/>
              <a:t> Support: Line plot for PM2.5 trends and bar charts comparing metrics </a:t>
            </a:r>
            <a:r>
              <a:rPr lang="en"/>
              <a:t>across</a:t>
            </a:r>
            <a:r>
              <a:rPr lang="en"/>
              <a:t> sensors.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 title="Screenshot 2026-04-04 at 12.53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63475"/>
            <a:ext cx="9143999" cy="54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00" y="0"/>
            <a:ext cx="777779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79600" y="4697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Stress Testing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Final trust scores drop under certain attacks (e.g., Flatline drops to 67.76)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Attacks Investigated: replay, flatline, threshold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Metrics most affected: variance, </a:t>
            </a:r>
            <a:r>
              <a:rPr lang="en" sz="1900">
                <a:solidFill>
                  <a:srgbClr val="000000"/>
                </a:solidFill>
              </a:rPr>
              <a:t>repetition</a:t>
            </a:r>
            <a:r>
              <a:rPr lang="en" sz="1900">
                <a:solidFill>
                  <a:srgbClr val="000000"/>
                </a:solidFill>
              </a:rPr>
              <a:t>, outliers, rate of change, and correlation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Ideas for future attack investigations:</a:t>
            </a:r>
            <a:endParaRPr sz="19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Gradual Drift – slow deviation from normal AQI over time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Missing Data Attack – randomly removes sensor readings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Extreme Outliers - injects very high values to test thresholds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Oscillation Attack – creates high-frequency oscillating reading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6813"/>
            <a:ext cx="91440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6813"/>
            <a:ext cx="91440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6813"/>
            <a:ext cx="91440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5532"/>
            <a:ext cx="9144000" cy="3412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Interpretation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266175"/>
            <a:ext cx="39999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Findings</a:t>
            </a:r>
            <a:endParaRPr b="1" sz="1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trust score was reliable (81.9/100) when we used data before attacks, and it decreased </a:t>
            </a:r>
            <a:r>
              <a:rPr lang="en" sz="1600"/>
              <a:t>significantly</a:t>
            </a:r>
            <a:r>
              <a:rPr lang="en" sz="1600"/>
              <a:t> (67.8/100) when we used data that had been manipulated a flatline attack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Replay and threshold attacks also showed a trust score decrease, but not as significant</a:t>
            </a:r>
            <a:endParaRPr sz="1600"/>
          </a:p>
        </p:txBody>
      </p:sp>
      <p:sp>
        <p:nvSpPr>
          <p:cNvPr id="139" name="Google Shape;139;p25"/>
          <p:cNvSpPr txBox="1"/>
          <p:nvPr>
            <p:ph idx="2" type="body"/>
          </p:nvPr>
        </p:nvSpPr>
        <p:spPr>
          <a:xfrm>
            <a:off x="4832400" y="1266175"/>
            <a:ext cx="39999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Challenges</a:t>
            </a:r>
            <a:endParaRPr b="1" sz="1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Designing a trust score equation that reflects decreased data reliability after various types of attacks, including replay, flatline, and threshold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Writing effective prompts for LLMs (ChatGPT) to generate desired output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Uses included brainstorming for attack recommendations and editing original trust sensor code to account for attacks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to Protect PurpleAir from Attacks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66325"/>
            <a:ext cx="8520600" cy="3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Defenses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Encryption and network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GPS location and timestamp confirmation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profiles of expected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External Defenses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Cross-validation with other </a:t>
            </a:r>
            <a:r>
              <a:rPr lang="en"/>
              <a:t>censoring</a:t>
            </a:r>
            <a:r>
              <a:rPr lang="en"/>
              <a:t> systems within IoT (EPA, NASA)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monitoring to immediately alert us when </a:t>
            </a:r>
            <a:r>
              <a:rPr lang="en"/>
              <a:t>anomalies</a:t>
            </a:r>
            <a:r>
              <a:rPr lang="en"/>
              <a:t> are detected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Decoy sensors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*Potentially inform these efforts through a machine learning model trained to detect changing or suspicious data in real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